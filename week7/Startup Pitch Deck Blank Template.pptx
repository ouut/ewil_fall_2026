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  <ns0:embeddedFont>
      <ns0:font typeface="Space Grotesk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a54b281c-3395-4276-add8-46cc7c239d4e.fntdata" /><ns0:Relationship Id="rIdFont20" Type="http://schemas.openxmlformats.org/officeDocument/2006/relationships/font" Target="fonts/fb65b49e-b9cc-499a-a0f3-b76687a0b8be.fntdata" /><ns0:Relationship Id="rIdFont21" Type="http://schemas.openxmlformats.org/officeDocument/2006/relationships/font" Target="fonts/5a854681-8c90-45ad-bf54-e881fcd2c9b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600700"/>
            <a:ext cx="106680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60070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72575" y="5962650"/>
            <a:ext cx="628650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53625" y="5962650"/>
            <a:ext cx="657225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63250" y="5962650"/>
            <a:ext cx="666750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714375"/>
            <a:ext cx="17145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01225" y="714375"/>
            <a:ext cx="2035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PITCH DECK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42716"/>
            <a:ext cx="1047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18CF8"/>
                </a:solidFill>
                <a:latin typeface="Plus Jakarta Sans"/>
              </a:rPr>
              <a:t>[ONE-LINE CATEGORY DEFINITION]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795141"/>
            <a:ext cx="11001375" cy="5914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Space Grotesk"/>
              </a:rPr>
              <a:t>[Compelling Pitch Headline]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577083"/>
            <a:ext cx="6953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[A clear, concise summary sentence describing what your product does, who it is for, and the unique value proposition].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" y="681037"/>
            <a:ext cx="2238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[VENTURE LOGO]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838825"/>
            <a:ext cx="2250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[Founder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076950"/>
            <a:ext cx="2250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[Incubator / Institution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5925" y="6019800"/>
            <a:ext cx="457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[Tag 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86975" y="6019800"/>
            <a:ext cx="485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[Tag 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96600" y="6019800"/>
            <a:ext cx="495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[Tag 3]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28937"/>
            <a:ext cx="3403550" cy="2066925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928937"/>
            <a:ext cx="3403550" cy="2066925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928937"/>
            <a:ext cx="3403550" cy="2066925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2432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475" y="32432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5" y="32432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675" y="337661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825" y="3376612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[Key Market Inefficiency or Pain Point]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890962"/>
            <a:ext cx="36420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[Friction Point 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4252912"/>
            <a:ext cx="28701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[Describe the primary user bottleneck or cost driver currently unaddressed].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8475" y="3890962"/>
            <a:ext cx="36420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[Friction Point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8475" y="4252912"/>
            <a:ext cx="28701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[Highlight why legacy solutions fail to solve this problem efficiently].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0625" y="3890962"/>
            <a:ext cx="36420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[Friction Point 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0625" y="4252912"/>
            <a:ext cx="28701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[Explain the resulting economic loss, churn, or lost opportunity].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114550"/>
            <a:ext cx="5120133" cy="3619500"/>
          </a:xfrm>
          <a:prstGeom prst="roundRect">
            <a:avLst>
              <a:gd name="adj" fmla="val 421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392" y="3395662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333" y="2909887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333" y="3795712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333" y="4481512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158" y="3024187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108" y="3910012"/>
            <a:ext cx="1714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633" y="4595812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[Core Innovation / Solution Value]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9836" y="4005262"/>
            <a:ext cx="4024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64748B"/>
                </a:solidFill>
                <a:latin typeface="Plus Jakarta Sans"/>
              </a:rPr>
              <a:t>[Product Screenshot / Mockup Placeholder]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3883" y="4281487"/>
            <a:ext cx="4036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F172A"/>
                </a:solidFill>
                <a:latin typeface="Plus Jakarta Sans"/>
              </a:rPr>
              <a:t>Upload your UI prototype or interactive graphic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2733" y="2909887"/>
            <a:ext cx="531926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[Feature 1: Primary Value]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2733" y="3167062"/>
            <a:ext cx="465251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[Brief description of how this directly tackles the primary customer problem].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2733" y="3795712"/>
            <a:ext cx="531926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[Feature 2: Tech Advantage]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2733" y="4052887"/>
            <a:ext cx="531926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[Your unfair advantage, proprietary algorithm, or streamlined UX].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2733" y="4481512"/>
            <a:ext cx="531926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[Feature 3: Friction Removal]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2733" y="4738687"/>
            <a:ext cx="531926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[How onboarding or adoption barriers are completely minimized].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49041"/>
            <a:ext cx="2524125" cy="1788616"/>
          </a:xfrm>
          <a:prstGeom prst="roundRect">
            <a:avLst>
              <a:gd name="adj" fmla="val 85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6625" y="3049041"/>
            <a:ext cx="2524125" cy="1788616"/>
          </a:xfrm>
          <a:prstGeom prst="roundRect">
            <a:avLst>
              <a:gd name="adj" fmla="val 85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49041"/>
            <a:ext cx="2524125" cy="1788616"/>
          </a:xfrm>
          <a:prstGeom prst="roundRect">
            <a:avLst>
              <a:gd name="adj" fmla="val 85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05875" y="3049041"/>
            <a:ext cx="2524125" cy="1788616"/>
          </a:xfrm>
          <a:prstGeom prst="roundRect">
            <a:avLst>
              <a:gd name="adj" fmla="val 85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0125" y="3334791"/>
            <a:ext cx="819150" cy="219075"/>
          </a:xfrm>
          <a:prstGeom prst="roundRect">
            <a:avLst>
              <a:gd name="adj" fmla="val 26086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14750" y="3334791"/>
            <a:ext cx="809625" cy="219075"/>
          </a:xfrm>
          <a:prstGeom prst="roundRect">
            <a:avLst>
              <a:gd name="adj" fmla="val 26086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29375" y="3334791"/>
            <a:ext cx="819150" cy="219075"/>
          </a:xfrm>
          <a:prstGeom prst="roundRect">
            <a:avLst>
              <a:gd name="adj" fmla="val 2608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0" y="3334791"/>
            <a:ext cx="819150" cy="219075"/>
          </a:xfrm>
          <a:prstGeom prst="roundRect">
            <a:avLst>
              <a:gd name="adj" fmla="val 2608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TARGET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[Customer Segments &amp; Personas]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372891"/>
            <a:ext cx="762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SEGMENT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677691"/>
            <a:ext cx="26878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[Beachhead User]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4001541"/>
            <a:ext cx="21431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[Early adopter profile with highest pain point and fastest sales cycle].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0950" y="3372891"/>
            <a:ext cx="752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59669"/>
                </a:solidFill>
                <a:latin typeface="Plus Jakarta Sans"/>
              </a:rPr>
              <a:t>SEGMENT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4750" y="3677691"/>
            <a:ext cx="26878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[Primary Segment]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4750" y="4001541"/>
            <a:ext cx="21431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[Core paying customer representing the bulk of steady recurring revenue].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3372891"/>
            <a:ext cx="762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SEGMENT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677691"/>
            <a:ext cx="26878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[Secondary Segment]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4001541"/>
            <a:ext cx="21431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[Adjacent demographic unlocked through product enhancements or partners].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0200" y="3372891"/>
            <a:ext cx="762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C3AED"/>
                </a:solidFill>
                <a:latin typeface="Plus Jakarta Sans"/>
              </a:rPr>
              <a:t>SEGMENT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677691"/>
            <a:ext cx="26878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[Expansion Target]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001541"/>
            <a:ext cx="21431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[Enterprise / wholesale / mass-market scale target for Series A+].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24162"/>
            <a:ext cx="3352800" cy="2124075"/>
          </a:xfrm>
          <a:prstGeom prst="roundRect">
            <a:avLst>
              <a:gd name="adj" fmla="val 7174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824162"/>
            <a:ext cx="3352800" cy="2124075"/>
          </a:xfrm>
          <a:prstGeom prst="roundRect">
            <a:avLst>
              <a:gd name="adj" fmla="val 7174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24162"/>
            <a:ext cx="3352800" cy="2124075"/>
          </a:xfrm>
          <a:prstGeom prst="roundRect">
            <a:avLst>
              <a:gd name="adj" fmla="val 7174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[Addressable Market &amp; Growth Trajectory]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5806" y="3214687"/>
            <a:ext cx="340518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4F46E5"/>
                </a:solidFill>
                <a:latin typeface="Space Grotesk"/>
              </a:rPr>
              <a:t>$[XX]B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5806" y="3938587"/>
            <a:ext cx="3405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TAM (Total Market)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806" y="4214812"/>
            <a:ext cx="34051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[Global overall market size and annual industry growth rate]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3406" y="3214687"/>
            <a:ext cx="340518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59669"/>
                </a:solidFill>
                <a:latin typeface="Space Grotesk"/>
              </a:rPr>
              <a:t>$[XX]M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3406" y="3938587"/>
            <a:ext cx="3405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SAM (Serviceable Market)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3406" y="4214812"/>
            <a:ext cx="34051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[Realistic subset reachable through current distribution channels]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1006" y="3214687"/>
            <a:ext cx="3405187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7C3AED"/>
                </a:solidFill>
                <a:latin typeface="Space Grotesk"/>
              </a:rPr>
              <a:t>[XX]%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1006" y="3938587"/>
            <a:ext cx="3405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SOM (Target Share)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1006" y="4214812"/>
            <a:ext cx="34051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[Near-term captured market share across 24–36 months]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47107"/>
            <a:ext cx="2309812" cy="1830585"/>
          </a:xfrm>
          <a:prstGeom prst="roundRect">
            <a:avLst>
              <a:gd name="adj" fmla="val 83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48062" y="2953791"/>
            <a:ext cx="2309812" cy="2017216"/>
          </a:xfrm>
          <a:prstGeom prst="roundRect">
            <a:avLst>
              <a:gd name="adj" fmla="val 75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34125" y="2953791"/>
            <a:ext cx="2309812" cy="2017216"/>
          </a:xfrm>
          <a:prstGeom prst="roundRect">
            <a:avLst>
              <a:gd name="adj" fmla="val 75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20187" y="3047107"/>
            <a:ext cx="2309812" cy="1830585"/>
          </a:xfrm>
          <a:prstGeom prst="roundRect">
            <a:avLst>
              <a:gd name="adj" fmla="val 83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26406" y="336143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12468" y="3268116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98531" y="3268116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84593" y="336143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212" y="3881437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881437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337" y="3881437"/>
            <a:ext cx="17145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[Core Process / User Flow]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3531" y="3361432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4F46E5"/>
                </a:solidFill>
                <a:latin typeface="Plus Jakarta Sa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624" y="3894832"/>
            <a:ext cx="25065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[Step 1: Input]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304" y="4190107"/>
            <a:ext cx="2387203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[How users start, register, or initiate initial interaction].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9593" y="3268116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4F46E5"/>
                </a:solidFill>
                <a:latin typeface="Plus Jakarta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9687" y="3801516"/>
            <a:ext cx="25065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[Step 2: Process]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367" y="4096791"/>
            <a:ext cx="2387203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[Underlying engine, AI processing, or operational logic].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5656" y="3268116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4F46E5"/>
                </a:solidFill>
                <a:latin typeface="Plus Jakarta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5749" y="3801516"/>
            <a:ext cx="25065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[Step 3: Output]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429" y="4096791"/>
            <a:ext cx="2387203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[The concrete result, dashboard output, or tangible value].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1718" y="3361432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4F46E5"/>
                </a:solidFill>
                <a:latin typeface="Plus Jakarta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1812" y="3894832"/>
            <a:ext cx="25065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[Step 4: Retention]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1492" y="4190107"/>
            <a:ext cx="2387203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[Feedback loops, network effects, or recurring triggers].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18494"/>
            <a:ext cx="3403550" cy="2411610"/>
          </a:xfrm>
          <a:prstGeom prst="roundRect">
            <a:avLst>
              <a:gd name="adj" fmla="val 63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718494"/>
            <a:ext cx="3403550" cy="2411610"/>
          </a:xfrm>
          <a:prstGeom prst="roundRect">
            <a:avLst>
              <a:gd name="adj" fmla="val 63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718494"/>
            <a:ext cx="3403550" cy="2411610"/>
          </a:xfrm>
          <a:prstGeom prst="roundRect">
            <a:avLst>
              <a:gd name="adj" fmla="val 63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800" y="3032819"/>
            <a:ext cx="685800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951" y="3032819"/>
            <a:ext cx="685800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01" y="3032819"/>
            <a:ext cx="685800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4638" y="3242369"/>
            <a:ext cx="2381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9163" y="3242369"/>
            <a:ext cx="33337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4651" y="3242369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LEADERSHIP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Co-Founding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734" y="3871019"/>
            <a:ext cx="38420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[Founder 1 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212" y="4156769"/>
            <a:ext cx="3659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4F46E5"/>
                </a:solidFill>
                <a:latin typeface="Plus Jakarta Sans"/>
              </a:rPr>
              <a:t>CEO / Business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212" y="4442519"/>
            <a:ext cx="36591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[Background highlights, domain expertise, prior venture experiences].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4884" y="3871019"/>
            <a:ext cx="38420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[Founder 2 Name / Target]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6362" y="4156769"/>
            <a:ext cx="3659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4F46E5"/>
                </a:solidFill>
                <a:latin typeface="Plus Jakarta Sans"/>
              </a:rPr>
              <a:t>CTO / Technical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6362" y="4442519"/>
            <a:ext cx="36591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[Core engineering capabilities, architecture mastery, AI/data stack].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7035" y="3871019"/>
            <a:ext cx="38420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[Founder 3 Name / Target]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8513" y="4156769"/>
            <a:ext cx="3659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4F46E5"/>
                </a:solidFill>
                <a:latin typeface="Plus Jakarta Sans"/>
              </a:rPr>
              <a:t>CMO / Growth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8513" y="4442519"/>
            <a:ext cx="36591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[Sales record, community management, marketing funnel acquisition].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25216"/>
            <a:ext cx="2524125" cy="2036266"/>
          </a:xfrm>
          <a:prstGeom prst="roundRect">
            <a:avLst>
              <a:gd name="adj" fmla="val 74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6625" y="2925216"/>
            <a:ext cx="2524125" cy="2036266"/>
          </a:xfrm>
          <a:prstGeom prst="roundRect">
            <a:avLst>
              <a:gd name="adj" fmla="val 74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925216"/>
            <a:ext cx="2524125" cy="2036266"/>
          </a:xfrm>
          <a:prstGeom prst="roundRect">
            <a:avLst>
              <a:gd name="adj" fmla="val 74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05875" y="2925216"/>
            <a:ext cx="2524125" cy="2036266"/>
          </a:xfrm>
          <a:prstGeom prst="roundRect">
            <a:avLst>
              <a:gd name="adj" fmla="val 74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239541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0" y="3239541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239541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900" y="3239541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GOVERNANCE &amp; MENTORSHIP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Advisory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601491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[Advisor Name 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858666"/>
            <a:ext cx="2655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Senior Incubator Advisor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125366"/>
            <a:ext cx="22193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[Incubation governance, venture scaling strategy, and milestone governance].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650" y="3601491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[Advisor Name 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6650" y="3858666"/>
            <a:ext cx="2655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Industry Expert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650" y="4125366"/>
            <a:ext cx="22193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[Deep vertical domain knowledge, regulatory insight, and key partner access].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601491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[Advisor Name 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3858666"/>
            <a:ext cx="2655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Financial Advisor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4125366"/>
            <a:ext cx="22193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[Cashflow forecasting, cap-table structuring, and funding preparedness].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5900" y="3601491"/>
            <a:ext cx="27878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[Advisor Name 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5900" y="3858666"/>
            <a:ext cx="2655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Legal &amp; IP Advisor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5900" y="4125366"/>
            <a:ext cx="22193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[Intellectual property, trademark protection, and vesting agreements].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557462"/>
            <a:ext cx="10668000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500437"/>
            <a:ext cx="10668000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443412"/>
            <a:ext cx="10668000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ECOSYSTEM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Events Participation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2738437"/>
            <a:ext cx="315277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[Venue &amp; Location]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7650" y="2862262"/>
            <a:ext cx="2547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[Event Date / Quarter]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681412"/>
            <a:ext cx="315277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[Venue &amp; Location]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7650" y="3805237"/>
            <a:ext cx="2547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[Event Date / Quarter]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624387"/>
            <a:ext cx="315277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[Venue &amp; Location]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7650" y="4748212"/>
            <a:ext cx="2547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[Event Date / Quarter]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2738437"/>
            <a:ext cx="401300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[Target Event 1 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2876550"/>
            <a:ext cx="609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[Why is this event relevant: networking, partner outreach, or customer validation].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681412"/>
            <a:ext cx="401300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[Target Event 2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3819525"/>
            <a:ext cx="609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[Why is this event relevant: investor relations, competitor benchmarking, or hiring].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4624387"/>
            <a:ext cx="401300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[Target Event 3 Name]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4676775"/>
            <a:ext cx="51911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[Why is this event relevant: target audience testing, media exposure, community building].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22376"/>
            <a:ext cx="3429000" cy="2165746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1500" y="2822376"/>
            <a:ext cx="3429000" cy="2165746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01000" y="2822376"/>
            <a:ext cx="3429000" cy="2165746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1075" y="3108126"/>
            <a:ext cx="647700" cy="219075"/>
          </a:xfrm>
          <a:prstGeom prst="roundRect">
            <a:avLst>
              <a:gd name="adj" fmla="val 26086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00575" y="3108126"/>
            <a:ext cx="666750" cy="219075"/>
          </a:xfrm>
          <a:prstGeom prst="roundRect">
            <a:avLst>
              <a:gd name="adj" fmla="val 26086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0075" y="3108126"/>
            <a:ext cx="666750" cy="219075"/>
          </a:xfrm>
          <a:prstGeom prst="roundRect">
            <a:avLst>
              <a:gd name="adj" fmla="val 2608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COMMERCIAL PRESENCE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Exhibits &amp; Booth Budget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146226"/>
            <a:ext cx="590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EXHIBIT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3431976"/>
            <a:ext cx="392549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[Exhibition Name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3736776"/>
            <a:ext cx="3738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[Location | Date Range]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4022526"/>
            <a:ext cx="37385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$[Estimated Booth Fee]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4365426"/>
            <a:ext cx="308610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[Why is this exhibit relevant: direct customer sales, B2B procurement, distribution contracts].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6775" y="3146226"/>
            <a:ext cx="609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59669"/>
                </a:solidFill>
                <a:latin typeface="Plus Jakarta Sans"/>
              </a:rPr>
              <a:t>EXHIBIT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0575" y="3431976"/>
            <a:ext cx="392549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[Exhibition Name 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575" y="3736776"/>
            <a:ext cx="3738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[Location | Date Range]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0575" y="4022526"/>
            <a:ext cx="37385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$[Estimated Booth Fee]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0575" y="4365426"/>
            <a:ext cx="308610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[Why is this exhibit relevant: high-tier investor discovery, global media attention, demo stage].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5" y="3146226"/>
            <a:ext cx="609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C3AED"/>
                </a:solidFill>
                <a:latin typeface="Plus Jakarta Sans"/>
              </a:rPr>
              <a:t>EXHIBIT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075" y="3431976"/>
            <a:ext cx="392549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[Exhibition Name 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075" y="3736776"/>
            <a:ext cx="3738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[Location | Date Range]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075" y="4022526"/>
            <a:ext cx="37385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$[Estimated Booth Fee]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075" y="4365426"/>
            <a:ext cx="308610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[Why is this exhibit relevant: consumer community launch, beta user onboarding, viral buzz].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43250"/>
            <a:ext cx="3403550" cy="1638300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143250"/>
            <a:ext cx="3403550" cy="1638300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43250"/>
            <a:ext cx="3403550" cy="1638300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Roadmap &amp;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457575"/>
            <a:ext cx="3659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[PHASE 1: TIMEFRAME]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705225"/>
            <a:ext cx="38420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[Milestone 1 Title]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067175"/>
            <a:ext cx="3022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[MVP completion, closed alpha user testing, initial customer validation data].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275" y="3457575"/>
            <a:ext cx="3659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[PHASE 2: TIMEFRAME]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275" y="3705225"/>
            <a:ext cx="38420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[Milestone 2 Title]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275" y="4067175"/>
            <a:ext cx="3022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[Beta launch, first monetization experiments, initial conference exposure].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4425" y="3457575"/>
            <a:ext cx="3659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Plus Jakarta Sans"/>
              </a:rPr>
              <a:t>[PHASE 3: TIMEFRAME]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4425" y="3705225"/>
            <a:ext cx="38420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[Milestone 3 Title]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425" y="4067175"/>
            <a:ext cx="3022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[Full market release, institutional seed fundraising round, regional expansion].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90825" y="4408140"/>
            <a:ext cx="661035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90825" y="4408140"/>
            <a:ext cx="66103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030759"/>
            <a:ext cx="5334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164109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825" y="4674840"/>
            <a:ext cx="1428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5425" y="4674840"/>
            <a:ext cx="1428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700" y="4674840"/>
            <a:ext cx="142875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57895" y="2792759"/>
            <a:ext cx="9676209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Space Grotesk"/>
              </a:rPr>
              <a:t>[Closing Statement / Vision Hook]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493740"/>
            <a:ext cx="762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[Call to Action: Join our pilot, connect for investment, or trial our MVP].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4646265"/>
            <a:ext cx="2762250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lus Jakarta Sans"/>
              </a:rPr>
              <a:t>[contact@yourdomain.com]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8490" y="4646265"/>
            <a:ext cx="2369343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lus Jakarta Sans"/>
              </a:rPr>
              <a:t>[www.yourdomain.com]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8765" y="4646265"/>
            <a:ext cx="2369343" cy="18097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CBD5E1"/>
                </a:solidFill>
                <a:latin typeface="Plus Jakarta Sans"/>
              </a:rPr>
              <a:t>Seneca HELIX Incubator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